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Presentazione" id="{1f2c35e0-4ea8-45ef-84f0-02be9de395e7}">
          <p14:sldIdLst>
            <p14:sldId id="256"/>
            <p14:sldId id="25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di copertina: nome dell’app, logo e i tre punti chiave (telefono, due accessi, anno fiscale).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Colonna sinistra: le quattro funzioni principali. Colonna destra: i due motivi per cui l’app è utile al Campo — contabilità interna e continuità nel cambio di tesoriere ogni tre anni.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pertina">
    <p:bg>
      <p:bgPr>
        <a:solidFill>
          <a:srgbClr val="163A6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uto">
    <p:bg>
      <p:bgPr>
        <a:solidFill>
          <a:srgbClr val="163A6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000" b="1" dirty="0">
                <a:solidFill>
                  <a:schemeClr val="bg1"/>
                </a:solidFill>
              </a:defRPr>
            </a:lvl1pPr>
          </a:lstStyle>
          <a:p>
            <a:pPr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Titolo</a:t>
            </a:r>
            <a:endParaRPr lang="en-US" sz="30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66760" y="4572000"/>
            <a:ext cx="365760" cy="36576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57200" y="461772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FA3BF"/>
                </a:solidFill>
              </a:rPr>
              <a:t>Tesoreria Campo Gedeoni · campodivittoria.github.io/GideonsTesoreria.app</a:t>
            </a:r>
            <a:endParaRPr lang="en-US" sz="9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Logo app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960120"/>
            <a:ext cx="2103120" cy="2103120"/>
          </a:xfrm>
          <a:prstGeom prst="rect">
            <a:avLst/>
          </a:prstGeom>
        </p:spPr>
      </p:pic>
      <p:sp>
        <p:nvSpPr>
          <p:cNvPr id="3" name="Titolo"/>
          <p:cNvSpPr txBox="1"/>
          <p:nvPr/>
        </p:nvSpPr>
        <p:spPr>
          <a:xfrm>
            <a:off x="3108960" y="914400"/>
            <a:ext cx="5577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chemeClr val="bg1"/>
                </a:solidFill>
              </a:rPr>
              <a:t>Tesoreria Campo Gedeoni</a:t>
            </a:r>
            <a:endParaRPr lang="en-US" sz="3800" dirty="0"/>
          </a:p>
        </p:txBody>
      </p:sp>
      <p:sp>
        <p:nvSpPr>
          <p:cNvPr id="4" name="Sottotitolo"/>
          <p:cNvSpPr txBox="1"/>
          <p:nvPr/>
        </p:nvSpPr>
        <p:spPr>
          <a:xfrm>
            <a:off x="3108960" y="1783080"/>
            <a:ext cx="5486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CADCFC"/>
                </a:solidFill>
              </a:rPr>
              <a:t>L’app del tesoriere del Campo: una cassa chiara, sempre con sé, con la stessa procedura anno dopo anno.</a:t>
            </a:r>
            <a:endParaRPr lang="en-US" sz="1600" dirty="0"/>
          </a:p>
        </p:txBody>
      </p:sp>
      <p:sp>
        <p:nvSpPr>
          <p:cNvPr id="5" name="Riquadro Sul telefono"/>
          <p:cNvSpPr/>
          <p:nvPr/>
        </p:nvSpPr>
        <p:spPr>
          <a:xfrm>
            <a:off x="640080" y="3246120"/>
            <a:ext cx="2514600" cy="1417320"/>
          </a:xfrm>
          <a:prstGeom prst="roundRect">
            <a:avLst>
              <a:gd name="adj" fmla="val 7742"/>
            </a:avLst>
          </a:prstGeom>
          <a:solidFill>
            <a:srgbClr val="1F4E8C"/>
          </a:solidFill>
          <a:ln w="12700">
            <a:solidFill>
              <a:srgbClr val="1F4E8C"/>
            </a:solidFill>
            <a:prstDash val="solid"/>
          </a:ln>
        </p:spPr>
      </p:sp>
      <p:sp>
        <p:nvSpPr>
          <p:cNvPr id="6" name="Cerchio icona Sul telefono"/>
          <p:cNvSpPr/>
          <p:nvPr/>
        </p:nvSpPr>
        <p:spPr>
          <a:xfrm>
            <a:off x="804672" y="3401568"/>
            <a:ext cx="457200" cy="457200"/>
          </a:xfrm>
          <a:prstGeom prst="ellipse">
            <a:avLst/>
          </a:prstGeom>
          <a:solidFill>
            <a:srgbClr val="D9A420"/>
          </a:solidFill>
          <a:ln w="12700">
            <a:solidFill>
              <a:srgbClr val="D9A420"/>
            </a:solidFill>
            <a:prstDash val="solid"/>
          </a:ln>
        </p:spPr>
      </p:sp>
      <p:pic>
        <p:nvPicPr>
          <p:cNvPr id="7" name="Icona Sul telefono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5256" y="3502152"/>
            <a:ext cx="256032" cy="256032"/>
          </a:xfrm>
          <a:prstGeom prst="rect">
            <a:avLst/>
          </a:prstGeom>
        </p:spPr>
      </p:pic>
      <p:sp>
        <p:nvSpPr>
          <p:cNvPr id="8" name="Titolo Sul telefono"/>
          <p:cNvSpPr txBox="1"/>
          <p:nvPr/>
        </p:nvSpPr>
        <p:spPr>
          <a:xfrm>
            <a:off x="1371600" y="3383280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Sul telefono</a:t>
            </a:r>
            <a:endParaRPr lang="en-US" sz="1500" dirty="0"/>
          </a:p>
        </p:txBody>
      </p:sp>
      <p:sp>
        <p:nvSpPr>
          <p:cNvPr id="9" name="Testo Sul telefono"/>
          <p:cNvSpPr txBox="1"/>
          <p:nvPr/>
        </p:nvSpPr>
        <p:spPr>
          <a:xfrm>
            <a:off x="804672" y="3931920"/>
            <a:ext cx="2240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</a:rPr>
              <a:t>Si apre dal browser e si aggiunge alla schermata Home: niente installazioni</a:t>
            </a:r>
            <a:endParaRPr lang="en-US" sz="1100" dirty="0"/>
          </a:p>
        </p:txBody>
      </p:sp>
      <p:sp>
        <p:nvSpPr>
          <p:cNvPr id="10" name="Riquadro Due accessi"/>
          <p:cNvSpPr/>
          <p:nvPr/>
        </p:nvSpPr>
        <p:spPr>
          <a:xfrm>
            <a:off x="3383280" y="3246120"/>
            <a:ext cx="2514600" cy="1417320"/>
          </a:xfrm>
          <a:prstGeom prst="roundRect">
            <a:avLst>
              <a:gd name="adj" fmla="val 7742"/>
            </a:avLst>
          </a:prstGeom>
          <a:solidFill>
            <a:srgbClr val="1F4E8C"/>
          </a:solidFill>
          <a:ln w="12700">
            <a:solidFill>
              <a:srgbClr val="1F4E8C"/>
            </a:solidFill>
            <a:prstDash val="solid"/>
          </a:ln>
        </p:spPr>
      </p:sp>
      <p:sp>
        <p:nvSpPr>
          <p:cNvPr id="11" name="Cerchio icona Due accessi"/>
          <p:cNvSpPr/>
          <p:nvPr/>
        </p:nvSpPr>
        <p:spPr>
          <a:xfrm>
            <a:off x="3547872" y="3401568"/>
            <a:ext cx="457200" cy="457200"/>
          </a:xfrm>
          <a:prstGeom prst="ellipse">
            <a:avLst/>
          </a:prstGeom>
          <a:solidFill>
            <a:srgbClr val="D9A420"/>
          </a:solidFill>
          <a:ln w="12700">
            <a:solidFill>
              <a:srgbClr val="D9A420"/>
            </a:solidFill>
            <a:prstDash val="solid"/>
          </a:ln>
        </p:spPr>
      </p:sp>
      <p:pic>
        <p:nvPicPr>
          <p:cNvPr id="12" name="Icona Due accessi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48456" y="3502152"/>
            <a:ext cx="256032" cy="256032"/>
          </a:xfrm>
          <a:prstGeom prst="rect">
            <a:avLst/>
          </a:prstGeom>
        </p:spPr>
      </p:pic>
      <p:sp>
        <p:nvSpPr>
          <p:cNvPr id="13" name="Titolo Due accessi"/>
          <p:cNvSpPr txBox="1"/>
          <p:nvPr/>
        </p:nvSpPr>
        <p:spPr>
          <a:xfrm>
            <a:off x="4114800" y="3383280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Due accessi</a:t>
            </a:r>
            <a:endParaRPr lang="en-US" sz="1500" dirty="0"/>
          </a:p>
        </p:txBody>
      </p:sp>
      <p:sp>
        <p:nvSpPr>
          <p:cNvPr id="14" name="Testo Due accessi"/>
          <p:cNvSpPr txBox="1"/>
          <p:nvPr/>
        </p:nvSpPr>
        <p:spPr>
          <a:xfrm>
            <a:off x="3547872" y="3931920"/>
            <a:ext cx="2240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</a:rPr>
              <a:t>Il tesoriere registra, l’amministratore corregge. Un account di prova per mostrarla</a:t>
            </a:r>
            <a:endParaRPr lang="en-US" sz="1100" dirty="0"/>
          </a:p>
        </p:txBody>
      </p:sp>
      <p:sp>
        <p:nvSpPr>
          <p:cNvPr id="15" name="Riquadro Anno fiscale"/>
          <p:cNvSpPr/>
          <p:nvPr/>
        </p:nvSpPr>
        <p:spPr>
          <a:xfrm>
            <a:off x="6126480" y="3246120"/>
            <a:ext cx="2514600" cy="1417320"/>
          </a:xfrm>
          <a:prstGeom prst="roundRect">
            <a:avLst>
              <a:gd name="adj" fmla="val 7742"/>
            </a:avLst>
          </a:prstGeom>
          <a:solidFill>
            <a:srgbClr val="1F4E8C"/>
          </a:solidFill>
          <a:ln w="12700">
            <a:solidFill>
              <a:srgbClr val="1F4E8C"/>
            </a:solidFill>
            <a:prstDash val="solid"/>
          </a:ln>
        </p:spPr>
      </p:sp>
      <p:sp>
        <p:nvSpPr>
          <p:cNvPr id="16" name="Cerchio icona Anno fiscale"/>
          <p:cNvSpPr/>
          <p:nvPr/>
        </p:nvSpPr>
        <p:spPr>
          <a:xfrm>
            <a:off x="6291072" y="3401568"/>
            <a:ext cx="457200" cy="457200"/>
          </a:xfrm>
          <a:prstGeom prst="ellipse">
            <a:avLst/>
          </a:prstGeom>
          <a:solidFill>
            <a:srgbClr val="D9A420"/>
          </a:solidFill>
          <a:ln w="12700">
            <a:solidFill>
              <a:srgbClr val="D9A420"/>
            </a:solidFill>
            <a:prstDash val="solid"/>
          </a:ln>
        </p:spPr>
      </p:sp>
      <p:pic>
        <p:nvPicPr>
          <p:cNvPr id="17" name="Icona Anno fiscale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91656" y="3502152"/>
            <a:ext cx="256032" cy="256032"/>
          </a:xfrm>
          <a:prstGeom prst="rect">
            <a:avLst/>
          </a:prstGeom>
        </p:spPr>
      </p:pic>
      <p:sp>
        <p:nvSpPr>
          <p:cNvPr id="18" name="Titolo Anno fiscale"/>
          <p:cNvSpPr txBox="1"/>
          <p:nvPr/>
        </p:nvSpPr>
        <p:spPr>
          <a:xfrm>
            <a:off x="6858000" y="3383280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Anno fiscale</a:t>
            </a:r>
            <a:endParaRPr lang="en-US" sz="1500" dirty="0"/>
          </a:p>
        </p:txBody>
      </p:sp>
      <p:sp>
        <p:nvSpPr>
          <p:cNvPr id="19" name="Testo Anno fiscale"/>
          <p:cNvSpPr txBox="1"/>
          <p:nvPr/>
        </p:nvSpPr>
        <p:spPr>
          <a:xfrm>
            <a:off x="6291072" y="3931920"/>
            <a:ext cx="2240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</a:rPr>
              <a:t>Dal 1° giugno al 31 maggio: chiusura automatica e riporto dei saldi</a:t>
            </a:r>
            <a:endParaRPr lang="en-US" sz="1100" dirty="0"/>
          </a:p>
        </p:txBody>
      </p:sp>
      <p:sp>
        <p:nvSpPr>
          <p:cNvPr id="20" name="Versione"/>
          <p:cNvSpPr txBox="1"/>
          <p:nvPr/>
        </p:nvSpPr>
        <p:spPr>
          <a:xfrm>
            <a:off x="640080" y="47548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FA3BF"/>
                </a:solidFill>
              </a:rPr>
              <a:t>Versione 3.7 · ottobre 2026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Cosa fa e perché serve al Campo</a:t>
            </a:r>
            <a:endParaRPr lang="en-US" sz="3000" dirty="0"/>
          </a:p>
        </p:txBody>
      </p:sp>
      <p:sp>
        <p:nvSpPr>
          <p:cNvPr id="3" name="Cerchio Nuova registrazione"/>
          <p:cNvSpPr/>
          <p:nvPr/>
        </p:nvSpPr>
        <p:spPr>
          <a:xfrm>
            <a:off x="457200" y="1188720"/>
            <a:ext cx="502920" cy="502920"/>
          </a:xfrm>
          <a:prstGeom prst="ellipse">
            <a:avLst/>
          </a:prstGeom>
          <a:solidFill>
            <a:srgbClr val="D9A420"/>
          </a:solidFill>
          <a:ln w="12700">
            <a:solidFill>
              <a:srgbClr val="D9A420"/>
            </a:solidFill>
            <a:prstDash val="solid"/>
          </a:ln>
        </p:spPr>
      </p:sp>
      <p:pic>
        <p:nvPicPr>
          <p:cNvPr id="4" name="Icona Nuova registrazi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0644" y="1312164"/>
            <a:ext cx="256032" cy="256032"/>
          </a:xfrm>
          <a:prstGeom prst="rect">
            <a:avLst/>
          </a:prstGeom>
        </p:spPr>
      </p:pic>
      <p:sp>
        <p:nvSpPr>
          <p:cNvPr id="5" name="Titolo Nuova registrazione"/>
          <p:cNvSpPr txBox="1"/>
          <p:nvPr/>
        </p:nvSpPr>
        <p:spPr>
          <a:xfrm>
            <a:off x="1143000" y="1143000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Nuova registrazione</a:t>
            </a:r>
            <a:endParaRPr lang="en-US" sz="1500" dirty="0"/>
          </a:p>
        </p:txBody>
      </p:sp>
      <p:sp>
        <p:nvSpPr>
          <p:cNvPr id="6" name="Testo Nuova registrazione"/>
          <p:cNvSpPr txBox="1"/>
          <p:nvPr/>
        </p:nvSpPr>
        <p:spPr>
          <a:xfrm>
            <a:off x="1143000" y="1435608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</a:rPr>
              <a:t>Data, luogo e tutti i conti in un solo foglio: offerte, PWT, Fondo Barnaba, quote annue, Gideons Card, spese</a:t>
            </a:r>
            <a:endParaRPr lang="en-US" sz="1100" dirty="0"/>
          </a:p>
        </p:txBody>
      </p:sp>
      <p:sp>
        <p:nvSpPr>
          <p:cNvPr id="7" name="Cerchio Riepilogo e Rendiconto"/>
          <p:cNvSpPr/>
          <p:nvPr/>
        </p:nvSpPr>
        <p:spPr>
          <a:xfrm>
            <a:off x="457200" y="2057400"/>
            <a:ext cx="502920" cy="502920"/>
          </a:xfrm>
          <a:prstGeom prst="ellipse">
            <a:avLst/>
          </a:prstGeom>
          <a:solidFill>
            <a:srgbClr val="D9A420"/>
          </a:solidFill>
          <a:ln w="12700">
            <a:solidFill>
              <a:srgbClr val="D9A420"/>
            </a:solidFill>
            <a:prstDash val="solid"/>
          </a:ln>
        </p:spPr>
      </p:sp>
      <p:pic>
        <p:nvPicPr>
          <p:cNvPr id="8" name="Icona Riepilogo e Rendiconto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" y="2180844"/>
            <a:ext cx="256032" cy="256032"/>
          </a:xfrm>
          <a:prstGeom prst="rect">
            <a:avLst/>
          </a:prstGeom>
        </p:spPr>
      </p:pic>
      <p:sp>
        <p:nvSpPr>
          <p:cNvPr id="9" name="Titolo Riepilogo e Rendiconto"/>
          <p:cNvSpPr txBox="1"/>
          <p:nvPr/>
        </p:nvSpPr>
        <p:spPr>
          <a:xfrm>
            <a:off x="1143000" y="2011680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Riepilogo e Rendiconto</a:t>
            </a:r>
            <a:endParaRPr lang="en-US" sz="1500" dirty="0"/>
          </a:p>
        </p:txBody>
      </p:sp>
      <p:sp>
        <p:nvSpPr>
          <p:cNvPr id="10" name="Testo Riepilogo e Rendiconto"/>
          <p:cNvSpPr txBox="1"/>
          <p:nvPr/>
        </p:nvSpPr>
        <p:spPr>
          <a:xfrm>
            <a:off x="1143000" y="2304288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</a:rPr>
              <a:t>Grafico della cassa, saldo di ogni conto, Pro Campo separato dagli altri; stampabile</a:t>
            </a:r>
            <a:endParaRPr lang="en-US" sz="1100" dirty="0"/>
          </a:p>
        </p:txBody>
      </p:sp>
      <p:sp>
        <p:nvSpPr>
          <p:cNvPr id="11" name="Cerchio Storico e Bilancio"/>
          <p:cNvSpPr/>
          <p:nvPr/>
        </p:nvSpPr>
        <p:spPr>
          <a:xfrm>
            <a:off x="457200" y="2926080"/>
            <a:ext cx="502920" cy="502920"/>
          </a:xfrm>
          <a:prstGeom prst="ellipse">
            <a:avLst/>
          </a:prstGeom>
          <a:solidFill>
            <a:srgbClr val="D9A420"/>
          </a:solidFill>
          <a:ln w="12700">
            <a:solidFill>
              <a:srgbClr val="D9A420"/>
            </a:solidFill>
            <a:prstDash val="solid"/>
          </a:ln>
        </p:spPr>
      </p:sp>
      <p:pic>
        <p:nvPicPr>
          <p:cNvPr id="12" name="Icona Storico e Bilancio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644" y="3049524"/>
            <a:ext cx="256032" cy="256032"/>
          </a:xfrm>
          <a:prstGeom prst="rect">
            <a:avLst/>
          </a:prstGeom>
        </p:spPr>
      </p:pic>
      <p:sp>
        <p:nvSpPr>
          <p:cNvPr id="13" name="Titolo Storico e Bilancio"/>
          <p:cNvSpPr txBox="1"/>
          <p:nvPr/>
        </p:nvSpPr>
        <p:spPr>
          <a:xfrm>
            <a:off x="1143000" y="2880360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Storico e Bilancio</a:t>
            </a:r>
            <a:endParaRPr lang="en-US" sz="1500" dirty="0"/>
          </a:p>
        </p:txBody>
      </p:sp>
      <p:sp>
        <p:nvSpPr>
          <p:cNvPr id="14" name="Testo Storico e Bilancio"/>
          <p:cNvSpPr txBox="1"/>
          <p:nvPr/>
        </p:nvSpPr>
        <p:spPr>
          <a:xfrm>
            <a:off x="1143000" y="3172968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</a:rPr>
              <a:t>Tutte le registrazioni nel tempo e un bilancio archiviato per ogni anno fiscale</a:t>
            </a:r>
            <a:endParaRPr lang="en-US" sz="1100" dirty="0"/>
          </a:p>
        </p:txBody>
      </p:sp>
      <p:sp>
        <p:nvSpPr>
          <p:cNvPr id="15" name="Cerchio Chiusura Cassa"/>
          <p:cNvSpPr/>
          <p:nvPr/>
        </p:nvSpPr>
        <p:spPr>
          <a:xfrm>
            <a:off x="457200" y="3794760"/>
            <a:ext cx="502920" cy="502920"/>
          </a:xfrm>
          <a:prstGeom prst="ellipse">
            <a:avLst/>
          </a:prstGeom>
          <a:solidFill>
            <a:srgbClr val="D9A420"/>
          </a:solidFill>
          <a:ln w="12700">
            <a:solidFill>
              <a:srgbClr val="D9A420"/>
            </a:solidFill>
            <a:prstDash val="solid"/>
          </a:ln>
        </p:spPr>
      </p:sp>
      <p:pic>
        <p:nvPicPr>
          <p:cNvPr id="16" name="Icona Chiusura Cassa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0644" y="3918204"/>
            <a:ext cx="256032" cy="256032"/>
          </a:xfrm>
          <a:prstGeom prst="rect">
            <a:avLst/>
          </a:prstGeom>
        </p:spPr>
      </p:pic>
      <p:sp>
        <p:nvSpPr>
          <p:cNvPr id="17" name="Titolo Chiusura Cassa"/>
          <p:cNvSpPr txBox="1"/>
          <p:nvPr/>
        </p:nvSpPr>
        <p:spPr>
          <a:xfrm>
            <a:off x="1143000" y="3749040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Chiusura Cassa</a:t>
            </a:r>
            <a:endParaRPr lang="en-US" sz="1500" dirty="0"/>
          </a:p>
        </p:txBody>
      </p:sp>
      <p:sp>
        <p:nvSpPr>
          <p:cNvPr id="18" name="Testo Chiusura Cassa"/>
          <p:cNvSpPr txBox="1"/>
          <p:nvPr/>
        </p:nvSpPr>
        <p:spPr>
          <a:xfrm>
            <a:off x="1143000" y="4041648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</a:rPr>
              <a:t>Bonifico di fine anno con data, esecutore e banca; i saldi residui diventano il riporto</a:t>
            </a:r>
            <a:endParaRPr lang="en-US" sz="1100" dirty="0"/>
          </a:p>
        </p:txBody>
      </p:sp>
      <p:sp>
        <p:nvSpPr>
          <p:cNvPr id="19" name="Riquadro perché"/>
          <p:cNvSpPr/>
          <p:nvPr/>
        </p:nvSpPr>
        <p:spPr>
          <a:xfrm>
            <a:off x="5440680" y="1097280"/>
            <a:ext cx="3246120" cy="3383280"/>
          </a:xfrm>
          <a:prstGeom prst="roundRect">
            <a:avLst>
              <a:gd name="adj" fmla="val 4225"/>
            </a:avLst>
          </a:prstGeom>
          <a:solidFill>
            <a:srgbClr val="1F4E8C"/>
          </a:solidFill>
          <a:ln w="12700">
            <a:solidFill>
              <a:srgbClr val="1F4E8C"/>
            </a:solidFill>
            <a:prstDash val="solid"/>
          </a:ln>
        </p:spPr>
      </p:sp>
      <p:sp>
        <p:nvSpPr>
          <p:cNvPr id="20" name="Titolo perché"/>
          <p:cNvSpPr txBox="1"/>
          <p:nvPr/>
        </p:nvSpPr>
        <p:spPr>
          <a:xfrm>
            <a:off x="5669280" y="123444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Perché serve</a:t>
            </a:r>
            <a:endParaRPr lang="en-US" sz="1700" dirty="0"/>
          </a:p>
        </p:txBody>
      </p:sp>
      <p:sp>
        <p:nvSpPr>
          <p:cNvPr id="21" name="Cerchio Contabilità interna chiara"/>
          <p:cNvSpPr/>
          <p:nvPr/>
        </p:nvSpPr>
        <p:spPr>
          <a:xfrm>
            <a:off x="5669280" y="1737360"/>
            <a:ext cx="384048" cy="384048"/>
          </a:xfrm>
          <a:prstGeom prst="ellipse">
            <a:avLst/>
          </a:prstGeom>
          <a:solidFill>
            <a:srgbClr val="1B7F4B"/>
          </a:solidFill>
          <a:ln w="12700">
            <a:solidFill>
              <a:srgbClr val="1B7F4B"/>
            </a:solidFill>
            <a:prstDash val="solid"/>
          </a:ln>
        </p:spPr>
      </p:sp>
      <p:pic>
        <p:nvPicPr>
          <p:cNvPr id="22" name="Icona Contabilità interna chiara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60720" y="1828800"/>
            <a:ext cx="201168" cy="201168"/>
          </a:xfrm>
          <a:prstGeom prst="rect">
            <a:avLst/>
          </a:prstGeom>
        </p:spPr>
      </p:pic>
      <p:sp>
        <p:nvSpPr>
          <p:cNvPr id="23" name="Titolo Contabilità interna chiara"/>
          <p:cNvSpPr txBox="1"/>
          <p:nvPr/>
        </p:nvSpPr>
        <p:spPr>
          <a:xfrm>
            <a:off x="6172200" y="1719072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Contabilità interna chiara</a:t>
            </a:r>
            <a:endParaRPr lang="en-US" sz="1300" dirty="0"/>
          </a:p>
        </p:txBody>
      </p:sp>
      <p:sp>
        <p:nvSpPr>
          <p:cNvPr id="24" name="Testo Contabilità interna chiara"/>
          <p:cNvSpPr txBox="1"/>
          <p:nvPr/>
        </p:nvSpPr>
        <p:spPr>
          <a:xfrm>
            <a:off x="5669280" y="2148840"/>
            <a:ext cx="2834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CADCFC"/>
                </a:solidFill>
              </a:rPr>
              <a:t>Ogni euro raccolto nelle riunioni e nelle chiese ha una data, un luogo e un conto. Niente più fogli sparsi.</a:t>
            </a:r>
            <a:endParaRPr lang="en-US" sz="1050" dirty="0"/>
          </a:p>
        </p:txBody>
      </p:sp>
      <p:sp>
        <p:nvSpPr>
          <p:cNvPr id="25" name="Cerchio Passaggio tra tesorieri"/>
          <p:cNvSpPr/>
          <p:nvPr/>
        </p:nvSpPr>
        <p:spPr>
          <a:xfrm>
            <a:off x="5669280" y="3063240"/>
            <a:ext cx="384048" cy="384048"/>
          </a:xfrm>
          <a:prstGeom prst="ellipse">
            <a:avLst/>
          </a:prstGeom>
          <a:solidFill>
            <a:srgbClr val="D9A420"/>
          </a:solidFill>
          <a:ln w="12700">
            <a:solidFill>
              <a:srgbClr val="D9A420"/>
            </a:solidFill>
            <a:prstDash val="solid"/>
          </a:ln>
        </p:spPr>
      </p:sp>
      <p:pic>
        <p:nvPicPr>
          <p:cNvPr id="26" name="Icona Passaggio tra tesorieri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60720" y="3154680"/>
            <a:ext cx="201168" cy="201168"/>
          </a:xfrm>
          <a:prstGeom prst="rect">
            <a:avLst/>
          </a:prstGeom>
        </p:spPr>
      </p:pic>
      <p:sp>
        <p:nvSpPr>
          <p:cNvPr id="27" name="Titolo Passaggio tra tesorieri"/>
          <p:cNvSpPr txBox="1"/>
          <p:nvPr/>
        </p:nvSpPr>
        <p:spPr>
          <a:xfrm>
            <a:off x="6172200" y="3044952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Passaggio tra tesorieri</a:t>
            </a:r>
            <a:endParaRPr lang="en-US" sz="1300" dirty="0"/>
          </a:p>
        </p:txBody>
      </p:sp>
      <p:sp>
        <p:nvSpPr>
          <p:cNvPr id="28" name="Testo Passaggio tra tesorieri"/>
          <p:cNvSpPr txBox="1"/>
          <p:nvPr/>
        </p:nvSpPr>
        <p:spPr>
          <a:xfrm>
            <a:off x="5669280" y="3474720"/>
            <a:ext cx="2834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CADCFC"/>
                </a:solidFill>
              </a:rPr>
              <a:t>Ogni tre anni il tesoriere cambia: con l’app il nuovo tesoriere trova gli stessi conti, la stessa procedura e lo storico completo. Nulla va perso nella transizione.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esoreria Gedeoni">
  <a:themeElements>
    <a:clrScheme name="Tesoreria Gedeoni">
      <a:dk1>
        <a:srgbClr val="1D2733"/>
      </a:dk1>
      <a:lt1>
        <a:srgbClr val="FFFFFF"/>
      </a:lt1>
      <a:dk2>
        <a:srgbClr val="163A69"/>
      </a:dk2>
      <a:lt2>
        <a:srgbClr val="EEF3FA"/>
      </a:lt2>
      <a:accent1>
        <a:srgbClr val="1F4E8C"/>
      </a:accent1>
      <a:accent2>
        <a:srgbClr val="1B7F4B"/>
      </a:accent2>
      <a:accent3>
        <a:srgbClr val="D9A420"/>
      </a:accent3>
      <a:accent4>
        <a:srgbClr val="A8323C"/>
      </a:accent4>
      <a:accent5>
        <a:srgbClr val="6B7785"/>
      </a:accent5>
      <a:accent6>
        <a:srgbClr val="2C8C9E"/>
      </a:accent6>
      <a:hlink>
        <a:srgbClr val="1F4E8C"/>
      </a:hlink>
      <a:folHlink>
        <a:srgbClr val="6B7785"/>
      </a:folHlink>
    </a:clrScheme>
    <a:fontScheme name="Tesoreria Gedeoni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Tesoreria Campo Gedeoni</dc:title>
  <dc:subject>PptxGenJS Presentation</dc:subject>
  <dc:creator>Campo di Vittoria</dc:creator>
  <cp:lastModifiedBy>Campo di Vittoria</cp:lastModifiedBy>
  <cp:revision>1</cp:revision>
  <dcterms:created xsi:type="dcterms:W3CDTF">2026-10-24T10:20:51Z</dcterms:created>
  <dcterms:modified xsi:type="dcterms:W3CDTF">2026-10-24T10:20:51Z</dcterms:modified>
</cp:coreProperties>
</file>